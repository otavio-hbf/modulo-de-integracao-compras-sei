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roxima Nova Bold" charset="1" panose="02000506030000020004"/>
      <p:regular r:id="rId31"/>
    </p:embeddedFont>
    <p:embeddedFont>
      <p:font typeface="Proxima Nova" charset="1" panose="02000506030000020004"/>
      <p:regular r:id="rId32"/>
    </p:embeddedFont>
    <p:embeddedFont>
      <p:font typeface="Canva Sans" charset="1" panose="020B05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2" cy="596650"/>
          </a:xfrm>
          <a:custGeom>
            <a:avLst/>
            <a:gdLst/>
            <a:ahLst/>
            <a:cxnLst/>
            <a:rect r="r" b="b" t="t" l="l"/>
            <a:pathLst>
              <a:path h="596650" w="2899682">
                <a:moveTo>
                  <a:pt x="0" y="0"/>
                </a:moveTo>
                <a:lnTo>
                  <a:pt x="2899682" y="0"/>
                </a:lnTo>
                <a:lnTo>
                  <a:pt x="2899682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050" y="0"/>
            <a:ext cx="18307050" cy="10306050"/>
            <a:chOff x="0" y="0"/>
            <a:chExt cx="24409400" cy="13741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4039662"/>
            <a:ext cx="16635904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95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Integração SEI - Compras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407121"/>
            <a:ext cx="582230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Integrantes: Victor Conde, Ana Sofia, Caio Montenegro, Nathan Barbosa, Otavio Henrique, Igor Correa, Thiago Felipe.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914984" y="8336306"/>
            <a:ext cx="6071535" cy="1141754"/>
            <a:chOff x="0" y="0"/>
            <a:chExt cx="8095380" cy="15223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05517" cy="1522339"/>
            </a:xfrm>
            <a:custGeom>
              <a:avLst/>
              <a:gdLst/>
              <a:ahLst/>
              <a:cxnLst/>
              <a:rect r="r" b="b" t="t" l="l"/>
              <a:pathLst>
                <a:path h="1522339" w="5105517">
                  <a:moveTo>
                    <a:pt x="0" y="0"/>
                  </a:moveTo>
                  <a:lnTo>
                    <a:pt x="5105517" y="0"/>
                  </a:lnTo>
                  <a:lnTo>
                    <a:pt x="5105517" y="1522339"/>
                  </a:lnTo>
                  <a:lnTo>
                    <a:pt x="0" y="1522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105517" y="257619"/>
              <a:ext cx="2989863" cy="971706"/>
            </a:xfrm>
            <a:custGeom>
              <a:avLst/>
              <a:gdLst/>
              <a:ahLst/>
              <a:cxnLst/>
              <a:rect r="r" b="b" t="t" l="l"/>
              <a:pathLst>
                <a:path h="971706" w="2989863">
                  <a:moveTo>
                    <a:pt x="0" y="0"/>
                  </a:moveTo>
                  <a:lnTo>
                    <a:pt x="2989863" y="0"/>
                  </a:lnTo>
                  <a:lnTo>
                    <a:pt x="2989863" y="971706"/>
                  </a:lnTo>
                  <a:lnTo>
                    <a:pt x="0" y="971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 que é o IFPE?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825" y="9537171"/>
            <a:ext cx="15491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1947039"/>
            <a:ext cx="1027946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Excelência em Educação Profissional e Tecnológica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4014896"/>
            <a:ext cx="16544475" cy="301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Instituto Federal de Educação, Ciência e Tecnologia de Pernambuco.</a:t>
            </a: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Atua em várias frentes, desde o Ensino Médio Técnico até Graduações e Pós-graduações.</a:t>
            </a: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 ensino, pesquisa e extensão, preparando alunos não só para o mercado de trabalho, mas para resolver problemas reais da sociedade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Sistemas SEI e Compras net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825" y="9537171"/>
            <a:ext cx="15491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894073"/>
            <a:ext cx="16544475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Comprasnet</a:t>
            </a:r>
          </a:p>
          <a:p>
            <a:pPr algn="l" marL="1381758" indent="-460586" lvl="2">
              <a:lnSpc>
                <a:spcPts val="383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Portal oficial de compras governamentais do Governo federal</a:t>
            </a:r>
          </a:p>
          <a:p>
            <a:pPr algn="l" marL="1381758" indent="-460586" lvl="2">
              <a:lnSpc>
                <a:spcPts val="383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Realizar licitações, pregões eletrônicos e cotações de forma digital e transparente</a:t>
            </a:r>
          </a:p>
          <a:p>
            <a:pPr algn="l" marL="1381758" indent="-460586" lvl="2">
              <a:lnSpc>
                <a:spcPts val="383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Conectar órgãos públicos (compradores ) a empresas privadas ( fornecedores)&lt; centralizando o dinheiro e as aquisições.</a:t>
            </a:r>
          </a:p>
          <a:p>
            <a:pPr algn="l">
              <a:lnSpc>
                <a:spcPts val="3839"/>
              </a:lnSpc>
            </a:pP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SEI (Sistema Eletrônico de Informações)</a:t>
            </a:r>
          </a:p>
          <a:p>
            <a:pPr algn="l" marL="1381758" indent="-460586" lvl="2">
              <a:lnSpc>
                <a:spcPts val="383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 plataforma oficial de gestão de documentos e processos administrativos</a:t>
            </a:r>
          </a:p>
          <a:p>
            <a:pPr algn="l" marL="1381758" indent="-460586" lvl="2">
              <a:lnSpc>
                <a:spcPts val="383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Criar, tramitar e assinar eletronicamente ofícios, contratos, memorandos e portarias</a:t>
            </a:r>
          </a:p>
          <a:p>
            <a:pPr algn="l" marL="1381758" indent="-460586" lvl="2">
              <a:lnSpc>
                <a:spcPts val="3839"/>
              </a:lnSpc>
              <a:spcBef>
                <a:spcPct val="0"/>
              </a:spcBef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Eliminar a burocracia física, garantindo rastreabilidade, assinaturas digitais com validade legal e fluxo de trabalho entre setores.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Visão Geral do 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825" y="9537171"/>
            <a:ext cx="15491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1947039"/>
            <a:ext cx="219685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Retrabalho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3261489"/>
            <a:ext cx="13024998" cy="498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5314" indent="-507657" lvl="1">
              <a:lnSpc>
                <a:spcPts val="5643"/>
              </a:lnSpc>
              <a:buFont typeface="Arial"/>
              <a:buChar char="•"/>
            </a:pPr>
            <a:r>
              <a:rPr lang="en-US" sz="47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Fase de Planejamento</a:t>
            </a:r>
          </a:p>
          <a:p>
            <a:pPr algn="l">
              <a:lnSpc>
                <a:spcPts val="5643"/>
              </a:lnSpc>
            </a:pPr>
          </a:p>
          <a:p>
            <a:pPr algn="l" marL="1015314" indent="-507657" lvl="1">
              <a:lnSpc>
                <a:spcPts val="5643"/>
              </a:lnSpc>
              <a:buFont typeface="Arial"/>
              <a:buChar char="•"/>
            </a:pPr>
            <a:r>
              <a:rPr lang="en-US" sz="47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Falta de integração entre os sistemas na geração de artefatos.</a:t>
            </a:r>
          </a:p>
          <a:p>
            <a:pPr algn="l">
              <a:lnSpc>
                <a:spcPts val="5643"/>
              </a:lnSpc>
            </a:pPr>
          </a:p>
          <a:p>
            <a:pPr algn="l" marL="1015314" indent="-507657" lvl="1">
              <a:lnSpc>
                <a:spcPts val="5643"/>
              </a:lnSpc>
              <a:spcBef>
                <a:spcPct val="0"/>
              </a:spcBef>
              <a:buFont typeface="Arial"/>
              <a:buChar char="•"/>
            </a:pPr>
            <a:r>
              <a:rPr lang="en-US" sz="47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Retrabalho e redundância ao criar os documentos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Visão Geral do 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825" y="9537171"/>
            <a:ext cx="15491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1947039"/>
            <a:ext cx="44603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Falta de Padronização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3191118"/>
            <a:ext cx="16858350" cy="548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778" indent="-442889" lvl="1">
              <a:lnSpc>
                <a:spcPts val="4923"/>
              </a:lnSpc>
              <a:buFont typeface="Arial"/>
              <a:buChar char="•"/>
            </a:pPr>
            <a:r>
              <a:rPr lang="en-US" sz="4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16 campi diferentes</a:t>
            </a:r>
          </a:p>
          <a:p>
            <a:pPr algn="l">
              <a:lnSpc>
                <a:spcPts val="4923"/>
              </a:lnSpc>
            </a:pPr>
          </a:p>
          <a:p>
            <a:pPr algn="l" marL="885778" indent="-442889" lvl="1">
              <a:lnSpc>
                <a:spcPts val="4923"/>
              </a:lnSpc>
              <a:buFont typeface="Arial"/>
              <a:buChar char="•"/>
            </a:pPr>
            <a:r>
              <a:rPr lang="en-US" sz="4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Variação no funcionamento</a:t>
            </a:r>
          </a:p>
          <a:p>
            <a:pPr algn="l">
              <a:lnSpc>
                <a:spcPts val="4203"/>
              </a:lnSpc>
            </a:pPr>
          </a:p>
          <a:p>
            <a:pPr algn="l" marL="885778" indent="-442889" lvl="1">
              <a:lnSpc>
                <a:spcPts val="4923"/>
              </a:lnSpc>
              <a:spcBef>
                <a:spcPct val="0"/>
              </a:spcBef>
              <a:buFont typeface="Arial"/>
              <a:buChar char="•"/>
            </a:pPr>
            <a:r>
              <a:rPr lang="en-US" sz="4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Prejudica ganhos de escala e aumenta a chance de inconsistências</a:t>
            </a:r>
          </a:p>
          <a:p>
            <a:pPr algn="l">
              <a:lnSpc>
                <a:spcPts val="4923"/>
              </a:lnSpc>
              <a:spcBef>
                <a:spcPct val="0"/>
              </a:spcBef>
            </a:pPr>
          </a:p>
          <a:p>
            <a:pPr algn="l" marL="885778" indent="-442889" lvl="1">
              <a:lnSpc>
                <a:spcPts val="4923"/>
              </a:lnSpc>
              <a:spcBef>
                <a:spcPct val="0"/>
              </a:spcBef>
              <a:buFont typeface="Arial"/>
              <a:buChar char="•"/>
            </a:pPr>
            <a:r>
              <a:rPr lang="en-US" sz="4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Como consequência, temos um processo com alto retrabalho, baixa padronização e pouca eficiência, além de maior risco de erros e dificuldades para qualquer tentativa de automatização futura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770725" y="2596281"/>
          <a:ext cx="12746549" cy="6052367"/>
        </p:xfrm>
        <a:graphic>
          <a:graphicData uri="http://schemas.openxmlformats.org/drawingml/2006/table">
            <a:tbl>
              <a:tblPr/>
              <a:tblGrid>
                <a:gridCol w="3313262"/>
                <a:gridCol w="1089990"/>
                <a:gridCol w="1406337"/>
                <a:gridCol w="838291"/>
                <a:gridCol w="1240116"/>
                <a:gridCol w="4858553"/>
              </a:tblGrid>
              <a:tr h="9582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Stakeholder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Tipo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Grau de envolvimento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Poder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Interesse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Atitude do Time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4489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Integrante Requisitante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Baixo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Médio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Garantir que não tenha retrabalho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Integrante Requisitante Protocolar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Médio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Médio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Garantir que não tenha retrabalho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6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Integrante Técnico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Médio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Médio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Garantir que não tenha retrabalho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0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Integrante Administrativo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Gerenciar de Perto: Apoiar na conferência para evitar idas e vindas.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5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Equipe de Planejamento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Gerenciar de Perto: Focar na automação/facilitação do trabalho dele.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0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Agente de Contratação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Gerenciar de Perto: Focar na automação/facilitação do trabalho dele.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0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Governo Federal (ComprasNet)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Externo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Baixo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Monitorar: Cumprir as normas e acompanhar mudanças sistêmicas.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CGU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Externo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Baixo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Monitorar e garantir total transparência.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0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Procuradoria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Externo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Baixo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Manter Satisfeito: Entregar documentos com alta qualidade jurídica e corretos.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4877904" y="5651039"/>
            <a:ext cx="359038" cy="342208"/>
            <a:chOff x="0" y="0"/>
            <a:chExt cx="812800" cy="774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77904" y="6328939"/>
            <a:ext cx="359038" cy="342208"/>
            <a:chOff x="0" y="0"/>
            <a:chExt cx="812800" cy="77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Análise de Stakeholders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825" y="9537171"/>
            <a:ext cx="22487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010182" y="2757049"/>
            <a:ext cx="11165755" cy="7383355"/>
          </a:xfrm>
          <a:custGeom>
            <a:avLst/>
            <a:gdLst/>
            <a:ahLst/>
            <a:cxnLst/>
            <a:rect r="r" b="b" t="t" l="l"/>
            <a:pathLst>
              <a:path h="7383355" w="11165755">
                <a:moveTo>
                  <a:pt x="0" y="0"/>
                </a:moveTo>
                <a:lnTo>
                  <a:pt x="11165755" y="0"/>
                </a:lnTo>
                <a:lnTo>
                  <a:pt x="11165755" y="7383355"/>
                </a:lnTo>
                <a:lnTo>
                  <a:pt x="0" y="7383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3355" y="277535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Personas + Mapa de Empatia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9537171"/>
            <a:ext cx="22517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3355" y="1214524"/>
            <a:ext cx="671378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 Requisitante (O "Dono da Dor")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3355" y="2050002"/>
            <a:ext cx="17081289" cy="70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788" indent="-251394" lvl="1">
              <a:lnSpc>
                <a:spcPts val="2794"/>
              </a:lnSpc>
              <a:spcBef>
                <a:spcPct val="0"/>
              </a:spcBef>
              <a:buFont typeface="Arial"/>
              <a:buChar char="•"/>
            </a:pPr>
            <a:r>
              <a:rPr lang="en-US" sz="232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Perfil: Prof. Dr. Ricardo, Coordenador de Curso no campus de Belo Jardim. Ele não é especialista em licitações, ele quer que o laboratório funcione.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920277" y="2550221"/>
            <a:ext cx="11844641" cy="7832269"/>
          </a:xfrm>
          <a:custGeom>
            <a:avLst/>
            <a:gdLst/>
            <a:ahLst/>
            <a:cxnLst/>
            <a:rect r="r" b="b" t="t" l="l"/>
            <a:pathLst>
              <a:path h="7832269" w="11844641">
                <a:moveTo>
                  <a:pt x="0" y="0"/>
                </a:moveTo>
                <a:lnTo>
                  <a:pt x="11844641" y="0"/>
                </a:lnTo>
                <a:lnTo>
                  <a:pt x="11844641" y="7832269"/>
                </a:lnTo>
                <a:lnTo>
                  <a:pt x="0" y="7832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4825" y="9537171"/>
            <a:ext cx="15491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3355" y="277535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Personas + Mapa de Empatia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3355" y="1038225"/>
            <a:ext cx="748352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O Técnico (O Especialista de Campo)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1886" y="1609725"/>
            <a:ext cx="17081289" cy="70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788" indent="-251394" lvl="1">
              <a:lnSpc>
                <a:spcPts val="2794"/>
              </a:lnSpc>
              <a:spcBef>
                <a:spcPct val="0"/>
              </a:spcBef>
              <a:buFont typeface="Arial"/>
              <a:buChar char="•"/>
            </a:pPr>
            <a:r>
              <a:rPr lang="en-US" sz="232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Perfil: Mariana, Técnica de TI do Campus Camaragibe. Integrante nata das Equipes de Planejamento. Ela é a ponte entre o desejo do professor e a realidade do mercado.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80418" y="8602985"/>
            <a:ext cx="3752113" cy="168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5076" indent="-132538" lvl="1">
              <a:lnSpc>
                <a:spcPts val="1473"/>
              </a:lnSpc>
              <a:buFont typeface="Arial"/>
              <a:buChar char="•"/>
            </a:pPr>
            <a:r>
              <a:rPr lang="en-US" sz="122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Insegurança Técnica: Medo de que a descrição detalhada no SEI seja simplificada ou alterada erroneamente ao ser transposta para o Comprasnet.</a:t>
            </a:r>
          </a:p>
          <a:p>
            <a:pPr algn="l">
              <a:lnSpc>
                <a:spcPts val="1473"/>
              </a:lnSpc>
            </a:pPr>
          </a:p>
          <a:p>
            <a:pPr algn="l" marL="265076" indent="-132538" lvl="1">
              <a:lnSpc>
                <a:spcPts val="1473"/>
              </a:lnSpc>
              <a:buFont typeface="Arial"/>
              <a:buChar char="•"/>
            </a:pPr>
            <a:r>
              <a:rPr lang="en-US" sz="122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Redundância de Esforço: Ter que preencher o "ETP Digital" no sistema do governo e depois gerar um PDF para anexar e assinar no SEI.</a:t>
            </a:r>
          </a:p>
          <a:p>
            <a:pPr algn="l">
              <a:lnSpc>
                <a:spcPts val="147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1056923" y="8717837"/>
            <a:ext cx="3500980" cy="137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48352" indent="-124176" lvl="1">
              <a:lnSpc>
                <a:spcPts val="1380"/>
              </a:lnSpc>
              <a:buFont typeface="Arial"/>
              <a:buChar char="•"/>
            </a:pPr>
            <a:r>
              <a:rPr lang="en-US" sz="115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Repositório de Inteligência: Acesso fácil a ETPs e Termos de Referência anteriores que já foram aprovados pela Reitoria para não "reinventar a roda".</a:t>
            </a:r>
          </a:p>
          <a:p>
            <a:pPr algn="just">
              <a:lnSpc>
                <a:spcPts val="1380"/>
              </a:lnSpc>
            </a:pPr>
          </a:p>
          <a:p>
            <a:pPr algn="just" marL="248352" indent="-124176" lvl="1">
              <a:lnSpc>
                <a:spcPts val="1380"/>
              </a:lnSpc>
              <a:buFont typeface="Arial"/>
              <a:buChar char="•"/>
            </a:pPr>
            <a:r>
              <a:rPr lang="en-US" sz="115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Fidelidade de Dados: Garantia de que a especificação técnica que ela validou no SEI será a mesma que o fornecedor lerá no Comprasnet.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747412" y="2385490"/>
            <a:ext cx="12017506" cy="7901510"/>
          </a:xfrm>
          <a:custGeom>
            <a:avLst/>
            <a:gdLst/>
            <a:ahLst/>
            <a:cxnLst/>
            <a:rect r="r" b="b" t="t" l="l"/>
            <a:pathLst>
              <a:path h="7901510" w="12017506">
                <a:moveTo>
                  <a:pt x="0" y="0"/>
                </a:moveTo>
                <a:lnTo>
                  <a:pt x="12017506" y="0"/>
                </a:lnTo>
                <a:lnTo>
                  <a:pt x="12017506" y="7901510"/>
                </a:lnTo>
                <a:lnTo>
                  <a:pt x="0" y="79015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4825" y="9537171"/>
            <a:ext cx="15491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3355" y="277535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Personas + Mapa de Empatia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3355" y="1001435"/>
            <a:ext cx="57769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 Administrativo de Campus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3355" y="1515785"/>
            <a:ext cx="17081289" cy="70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788" indent="-251394" lvl="1">
              <a:lnSpc>
                <a:spcPts val="2794"/>
              </a:lnSpc>
              <a:spcBef>
                <a:spcPct val="0"/>
              </a:spcBef>
              <a:buFont typeface="Arial"/>
              <a:buChar char="•"/>
            </a:pPr>
            <a:r>
              <a:rPr lang="en-US" sz="232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Perfil: João, Assistente em Administração. Ele é o Agente de Contratação local que monta o processo antes de subir para a Reitoria unificar. Ele é o "integrador humano" entre os sistemas.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52630" y="0"/>
            <a:ext cx="3840966" cy="1145400"/>
            <a:chOff x="0" y="0"/>
            <a:chExt cx="5121288" cy="152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21275" cy="1527175"/>
            </a:xfrm>
            <a:custGeom>
              <a:avLst/>
              <a:gdLst/>
              <a:ahLst/>
              <a:cxnLst/>
              <a:rect r="r" b="b" t="t" l="l"/>
              <a:pathLst>
                <a:path h="1527175" w="5121275">
                  <a:moveTo>
                    <a:pt x="0" y="0"/>
                  </a:moveTo>
                  <a:lnTo>
                    <a:pt x="5121275" y="0"/>
                  </a:lnTo>
                  <a:lnTo>
                    <a:pt x="5121275" y="1527175"/>
                  </a:lnTo>
                  <a:lnTo>
                    <a:pt x="0" y="1527175"/>
                  </a:lnTo>
                  <a:close/>
                </a:path>
              </a:pathLst>
            </a:custGeom>
            <a:blipFill>
              <a:blip r:embed="rId2"/>
              <a:stretch>
                <a:fillRect l="0" t="-77" r="0" b="-7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93586" y="211941"/>
            <a:ext cx="2211572" cy="721528"/>
            <a:chOff x="0" y="0"/>
            <a:chExt cx="2948762" cy="962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48813" cy="962025"/>
            </a:xfrm>
            <a:custGeom>
              <a:avLst/>
              <a:gdLst/>
              <a:ahLst/>
              <a:cxnLst/>
              <a:rect r="r" b="b" t="t" l="l"/>
              <a:pathLst>
                <a:path h="962025" w="2948813">
                  <a:moveTo>
                    <a:pt x="0" y="0"/>
                  </a:moveTo>
                  <a:lnTo>
                    <a:pt x="2948813" y="0"/>
                  </a:lnTo>
                  <a:lnTo>
                    <a:pt x="2948813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3"/>
              <a:stretch>
                <a:fillRect l="0" t="-199" r="1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948" y="781450"/>
            <a:ext cx="1149999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Objetivo do Projeto &amp; Proposta de Valor</a:t>
            </a:r>
          </a:p>
        </p:txBody>
      </p:sp>
      <p:sp>
        <p:nvSpPr>
          <p:cNvPr name="AutoShape 7" id="7"/>
          <p:cNvSpPr/>
          <p:nvPr/>
        </p:nvSpPr>
        <p:spPr>
          <a:xfrm rot="7740">
            <a:off x="552879" y="1840478"/>
            <a:ext cx="16896493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71948" y="2006298"/>
            <a:ext cx="7999800" cy="430797"/>
            <a:chOff x="0" y="0"/>
            <a:chExt cx="10666400" cy="5743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6400" cy="574400"/>
            </a:xfrm>
            <a:custGeom>
              <a:avLst/>
              <a:gdLst/>
              <a:ahLst/>
              <a:cxnLst/>
              <a:rect r="r" b="b" t="t" l="l"/>
              <a:pathLst>
                <a:path h="574400" w="10666400">
                  <a:moveTo>
                    <a:pt x="0" y="0"/>
                  </a:moveTo>
                  <a:lnTo>
                    <a:pt x="10666400" y="0"/>
                  </a:lnTo>
                  <a:lnTo>
                    <a:pt x="10666400" y="574400"/>
                  </a:lnTo>
                  <a:lnTo>
                    <a:pt x="0" y="57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830" r="0" b="-3118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0666400" cy="679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79"/>
                </a:lnSpc>
              </a:pPr>
              <a:r>
                <a:rPr lang="en-US" b="true" sz="2799">
                  <a:solidFill>
                    <a:srgbClr val="59595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Objetivo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948" y="2620004"/>
            <a:ext cx="3900002" cy="6800002"/>
            <a:chOff x="0" y="0"/>
            <a:chExt cx="5200002" cy="9066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00015" cy="9066657"/>
            </a:xfrm>
            <a:custGeom>
              <a:avLst/>
              <a:gdLst/>
              <a:ahLst/>
              <a:cxnLst/>
              <a:rect r="r" b="b" t="t" l="l"/>
              <a:pathLst>
                <a:path h="9066657" w="5200015">
                  <a:moveTo>
                    <a:pt x="0" y="0"/>
                  </a:moveTo>
                  <a:lnTo>
                    <a:pt x="5200015" y="0"/>
                  </a:lnTo>
                  <a:lnTo>
                    <a:pt x="5200015" y="9066657"/>
                  </a:lnTo>
                  <a:lnTo>
                    <a:pt x="0" y="9066657"/>
                  </a:lnTo>
                  <a:close/>
                </a:path>
              </a:pathLst>
            </a:custGeom>
            <a:solidFill>
              <a:srgbClr val="DB1E2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1948" y="2620004"/>
            <a:ext cx="3900002" cy="6800002"/>
            <a:chOff x="0" y="0"/>
            <a:chExt cx="5200002" cy="9066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00000" cy="9066667"/>
            </a:xfrm>
            <a:custGeom>
              <a:avLst/>
              <a:gdLst/>
              <a:ahLst/>
              <a:cxnLst/>
              <a:rect r="r" b="b" t="t" l="l"/>
              <a:pathLst>
                <a:path h="9066667" w="5200000">
                  <a:moveTo>
                    <a:pt x="0" y="0"/>
                  </a:moveTo>
                  <a:lnTo>
                    <a:pt x="5200000" y="0"/>
                  </a:lnTo>
                  <a:lnTo>
                    <a:pt x="5200000" y="9066667"/>
                  </a:lnTo>
                  <a:lnTo>
                    <a:pt x="0" y="90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3708" t="0" r="-17370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304800"/>
              <a:ext cx="5200002" cy="8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1"/>
                </a:lnSpc>
              </a:pPr>
              <a:r>
                <a:rPr lang="en-US" b="true" sz="559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↓</a:t>
              </a:r>
            </a:p>
            <a:p>
              <a:pPr algn="ctr">
                <a:lnSpc>
                  <a:spcPts val="3839"/>
                </a:lnSpc>
              </a:pPr>
              <a:r>
                <a:rPr lang="en-US" b="true" sz="279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Reduzir</a:t>
              </a:r>
            </a:p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Retrabalho entre</a:t>
              </a:r>
            </a:p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SEI e ComprasNet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671946" y="2620004"/>
            <a:ext cx="3900002" cy="6800002"/>
            <a:chOff x="0" y="0"/>
            <a:chExt cx="5200002" cy="90666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00015" cy="9066657"/>
            </a:xfrm>
            <a:custGeom>
              <a:avLst/>
              <a:gdLst/>
              <a:ahLst/>
              <a:cxnLst/>
              <a:rect r="r" b="b" t="t" l="l"/>
              <a:pathLst>
                <a:path h="9066657" w="5200015">
                  <a:moveTo>
                    <a:pt x="0" y="0"/>
                  </a:moveTo>
                  <a:lnTo>
                    <a:pt x="5200015" y="0"/>
                  </a:lnTo>
                  <a:lnTo>
                    <a:pt x="5200015" y="9066657"/>
                  </a:lnTo>
                  <a:lnTo>
                    <a:pt x="0" y="9066657"/>
                  </a:lnTo>
                  <a:close/>
                </a:path>
              </a:pathLst>
            </a:custGeom>
            <a:solidFill>
              <a:srgbClr val="3A3A3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71946" y="2620004"/>
            <a:ext cx="3900002" cy="6800002"/>
            <a:chOff x="0" y="0"/>
            <a:chExt cx="5200002" cy="90666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00000" cy="9066667"/>
            </a:xfrm>
            <a:custGeom>
              <a:avLst/>
              <a:gdLst/>
              <a:ahLst/>
              <a:cxnLst/>
              <a:rect r="r" b="b" t="t" l="l"/>
              <a:pathLst>
                <a:path h="9066667" w="5200000">
                  <a:moveTo>
                    <a:pt x="0" y="0"/>
                  </a:moveTo>
                  <a:lnTo>
                    <a:pt x="5200000" y="0"/>
                  </a:lnTo>
                  <a:lnTo>
                    <a:pt x="5200000" y="9066667"/>
                  </a:lnTo>
                  <a:lnTo>
                    <a:pt x="0" y="90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3708" t="0" r="-17370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304800"/>
              <a:ext cx="5200002" cy="8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1"/>
                </a:lnSpc>
              </a:pPr>
              <a:r>
                <a:rPr lang="en-US" b="true" sz="559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≡</a:t>
              </a:r>
            </a:p>
            <a:p>
              <a:pPr algn="ctr">
                <a:lnSpc>
                  <a:spcPts val="3839"/>
                </a:lnSpc>
              </a:pPr>
              <a:r>
                <a:rPr lang="en-US" b="true" sz="279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Padronizar</a:t>
              </a:r>
            </a:p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Processos entre</a:t>
              </a:r>
            </a:p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os 16 campi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71954" y="5699998"/>
            <a:ext cx="480003" cy="720004"/>
            <a:chOff x="0" y="0"/>
            <a:chExt cx="640004" cy="9600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080" cy="960120"/>
            </a:xfrm>
            <a:custGeom>
              <a:avLst/>
              <a:gdLst/>
              <a:ahLst/>
              <a:cxnLst/>
              <a:rect r="r" b="b" t="t" l="l"/>
              <a:pathLst>
                <a:path h="960120" w="640080">
                  <a:moveTo>
                    <a:pt x="0" y="240030"/>
                  </a:moveTo>
                  <a:lnTo>
                    <a:pt x="320040" y="240030"/>
                  </a:lnTo>
                  <a:lnTo>
                    <a:pt x="320040" y="0"/>
                  </a:lnTo>
                  <a:lnTo>
                    <a:pt x="640080" y="480060"/>
                  </a:lnTo>
                  <a:lnTo>
                    <a:pt x="320040" y="960120"/>
                  </a:lnTo>
                  <a:lnTo>
                    <a:pt x="320040" y="719963"/>
                  </a:lnTo>
                  <a:lnTo>
                    <a:pt x="0" y="719963"/>
                  </a:lnTo>
                  <a:close/>
                </a:path>
              </a:pathLst>
            </a:custGeom>
            <a:solidFill>
              <a:srgbClr val="DB1E2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71946" y="2620004"/>
            <a:ext cx="3699996" cy="6800002"/>
            <a:chOff x="0" y="0"/>
            <a:chExt cx="4933328" cy="90666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3315" cy="9066657"/>
            </a:xfrm>
            <a:custGeom>
              <a:avLst/>
              <a:gdLst/>
              <a:ahLst/>
              <a:cxnLst/>
              <a:rect r="r" b="b" t="t" l="l"/>
              <a:pathLst>
                <a:path h="9066657" w="4933315">
                  <a:moveTo>
                    <a:pt x="0" y="0"/>
                  </a:moveTo>
                  <a:lnTo>
                    <a:pt x="4933315" y="0"/>
                  </a:lnTo>
                  <a:lnTo>
                    <a:pt x="4933315" y="9066657"/>
                  </a:lnTo>
                  <a:lnTo>
                    <a:pt x="0" y="9066657"/>
                  </a:lnTo>
                  <a:close/>
                </a:path>
              </a:pathLst>
            </a:custGeom>
            <a:solidFill>
              <a:srgbClr val="DB1E2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71946" y="2620004"/>
            <a:ext cx="3699996" cy="6800002"/>
            <a:chOff x="0" y="0"/>
            <a:chExt cx="4933328" cy="90666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33333" cy="9066667"/>
            </a:xfrm>
            <a:custGeom>
              <a:avLst/>
              <a:gdLst/>
              <a:ahLst/>
              <a:cxnLst/>
              <a:rect r="r" b="b" t="t" l="l"/>
              <a:pathLst>
                <a:path h="9066667" w="4933333">
                  <a:moveTo>
                    <a:pt x="0" y="0"/>
                  </a:moveTo>
                  <a:lnTo>
                    <a:pt x="4933333" y="0"/>
                  </a:lnTo>
                  <a:lnTo>
                    <a:pt x="4933333" y="9066667"/>
                  </a:lnTo>
                  <a:lnTo>
                    <a:pt x="0" y="90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5801" t="0" r="-18580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304800"/>
              <a:ext cx="4933328" cy="8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1"/>
                </a:lnSpc>
              </a:pPr>
              <a:r>
                <a:rPr lang="en-US" b="true" sz="559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⚡</a:t>
              </a:r>
            </a:p>
            <a:p>
              <a:pPr algn="ctr">
                <a:lnSpc>
                  <a:spcPts val="3839"/>
                </a:lnSpc>
              </a:pPr>
              <a:r>
                <a:rPr lang="en-US" b="true" sz="279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Eficiência</a:t>
              </a:r>
            </a:p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Menos erros e</a:t>
              </a:r>
            </a:p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redução de tempo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371947" y="2620004"/>
            <a:ext cx="3699996" cy="6800002"/>
            <a:chOff x="0" y="0"/>
            <a:chExt cx="4933328" cy="90666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33315" cy="9066657"/>
            </a:xfrm>
            <a:custGeom>
              <a:avLst/>
              <a:gdLst/>
              <a:ahLst/>
              <a:cxnLst/>
              <a:rect r="r" b="b" t="t" l="l"/>
              <a:pathLst>
                <a:path h="9066657" w="4933315">
                  <a:moveTo>
                    <a:pt x="0" y="0"/>
                  </a:moveTo>
                  <a:lnTo>
                    <a:pt x="4933315" y="0"/>
                  </a:lnTo>
                  <a:lnTo>
                    <a:pt x="4933315" y="9066657"/>
                  </a:lnTo>
                  <a:lnTo>
                    <a:pt x="0" y="9066657"/>
                  </a:lnTo>
                  <a:close/>
                </a:path>
              </a:pathLst>
            </a:custGeom>
            <a:solidFill>
              <a:srgbClr val="3A3A3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371947" y="2620004"/>
            <a:ext cx="3699996" cy="6800002"/>
            <a:chOff x="0" y="0"/>
            <a:chExt cx="4933328" cy="90666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33333" cy="9066667"/>
            </a:xfrm>
            <a:custGeom>
              <a:avLst/>
              <a:gdLst/>
              <a:ahLst/>
              <a:cxnLst/>
              <a:rect r="r" b="b" t="t" l="l"/>
              <a:pathLst>
                <a:path h="9066667" w="4933333">
                  <a:moveTo>
                    <a:pt x="0" y="0"/>
                  </a:moveTo>
                  <a:lnTo>
                    <a:pt x="4933333" y="0"/>
                  </a:lnTo>
                  <a:lnTo>
                    <a:pt x="4933333" y="9066667"/>
                  </a:lnTo>
                  <a:lnTo>
                    <a:pt x="0" y="90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5801" t="0" r="-18580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304800"/>
              <a:ext cx="4933328" cy="8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1"/>
                </a:lnSpc>
              </a:pPr>
              <a:r>
                <a:rPr lang="en-US" b="true" sz="559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↗</a:t>
              </a:r>
            </a:p>
            <a:p>
              <a:pPr algn="ctr">
                <a:lnSpc>
                  <a:spcPts val="3839"/>
                </a:lnSpc>
              </a:pPr>
              <a:r>
                <a:rPr lang="en-US" b="true" sz="279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Escala</a:t>
              </a:r>
            </a:p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Replicar em outras</a:t>
              </a:r>
            </a:p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instituições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764922" y="9403823"/>
            <a:ext cx="289968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cin.ufpe.br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64798" y="2038131"/>
            <a:ext cx="7999800" cy="430797"/>
            <a:chOff x="0" y="0"/>
            <a:chExt cx="10666400" cy="5743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66400" cy="574400"/>
            </a:xfrm>
            <a:custGeom>
              <a:avLst/>
              <a:gdLst/>
              <a:ahLst/>
              <a:cxnLst/>
              <a:rect r="r" b="b" t="t" l="l"/>
              <a:pathLst>
                <a:path h="574400" w="10666400">
                  <a:moveTo>
                    <a:pt x="0" y="0"/>
                  </a:moveTo>
                  <a:lnTo>
                    <a:pt x="10666400" y="0"/>
                  </a:lnTo>
                  <a:lnTo>
                    <a:pt x="10666400" y="574400"/>
                  </a:lnTo>
                  <a:lnTo>
                    <a:pt x="0" y="57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830" r="0" b="-3118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10666400" cy="679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79"/>
                </a:lnSpc>
              </a:pPr>
              <a:r>
                <a:rPr lang="en-US" b="true" sz="2799">
                  <a:solidFill>
                    <a:srgbClr val="59595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Proposta de Valor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14825" y="9537171"/>
            <a:ext cx="15491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6807582"/>
            <a:ext cx="1909348" cy="1909348"/>
          </a:xfrm>
          <a:custGeom>
            <a:avLst/>
            <a:gdLst/>
            <a:ahLst/>
            <a:cxnLst/>
            <a:rect r="r" b="b" t="t" l="l"/>
            <a:pathLst>
              <a:path h="1909348" w="1909348">
                <a:moveTo>
                  <a:pt x="0" y="0"/>
                </a:moveTo>
                <a:lnTo>
                  <a:pt x="1909348" y="0"/>
                </a:lnTo>
                <a:lnTo>
                  <a:pt x="1909348" y="1909348"/>
                </a:lnTo>
                <a:lnTo>
                  <a:pt x="0" y="1909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BPMN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1947039"/>
            <a:ext cx="446210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de Planejamento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3178557"/>
            <a:ext cx="8862966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Escopo: fase preparatória até a conclusão dos artefatos técnicos</a:t>
            </a: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Base normativa: IN nº 58/2022, Lei 14.133/2021*</a:t>
            </a:r>
          </a:p>
          <a:p>
            <a:pPr algn="l" marL="690879" indent="-345439" lvl="1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Estrutura Matriz‑Filial e segregação de funções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78021" y="8250205"/>
            <a:ext cx="523541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Uso do Bizagi para modelagem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4825" y="9537171"/>
            <a:ext cx="446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569167" y="3039706"/>
            <a:ext cx="10690133" cy="5999837"/>
          </a:xfrm>
          <a:custGeom>
            <a:avLst/>
            <a:gdLst/>
            <a:ahLst/>
            <a:cxnLst/>
            <a:rect r="r" b="b" t="t" l="l"/>
            <a:pathLst>
              <a:path h="5999837" w="10690133">
                <a:moveTo>
                  <a:pt x="0" y="0"/>
                </a:moveTo>
                <a:lnTo>
                  <a:pt x="10690133" y="0"/>
                </a:lnTo>
                <a:lnTo>
                  <a:pt x="10690133" y="5999836"/>
                </a:lnTo>
                <a:lnTo>
                  <a:pt x="0" y="5999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BPMN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1947039"/>
            <a:ext cx="276379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Pools e Lanes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3309678"/>
            <a:ext cx="183677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</a:t>
            </a: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IFPE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4825" y="9537171"/>
            <a:ext cx="446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482851" y="3309678"/>
            <a:ext cx="13181753" cy="5618722"/>
          </a:xfrm>
          <a:custGeom>
            <a:avLst/>
            <a:gdLst/>
            <a:ahLst/>
            <a:cxnLst/>
            <a:rect r="r" b="b" t="t" l="l"/>
            <a:pathLst>
              <a:path h="5618722" w="13181753">
                <a:moveTo>
                  <a:pt x="0" y="0"/>
                </a:moveTo>
                <a:lnTo>
                  <a:pt x="13181753" y="0"/>
                </a:lnTo>
                <a:lnTo>
                  <a:pt x="13181753" y="5618722"/>
                </a:lnTo>
                <a:lnTo>
                  <a:pt x="0" y="56187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BPMN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1947039"/>
            <a:ext cx="276379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Pools e Lanes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3309678"/>
            <a:ext cx="183677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</a:t>
            </a: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IFPE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4825" y="4005003"/>
            <a:ext cx="311085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Lane</a:t>
            </a:r>
            <a:r>
              <a:rPr lang="en-US" sz="2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Requisitantes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4825" y="9537171"/>
            <a:ext cx="446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703987" y="3309678"/>
            <a:ext cx="11869188" cy="5513011"/>
          </a:xfrm>
          <a:custGeom>
            <a:avLst/>
            <a:gdLst/>
            <a:ahLst/>
            <a:cxnLst/>
            <a:rect r="r" b="b" t="t" l="l"/>
            <a:pathLst>
              <a:path h="5513011" w="11869188">
                <a:moveTo>
                  <a:pt x="0" y="0"/>
                </a:moveTo>
                <a:lnTo>
                  <a:pt x="11869188" y="0"/>
                </a:lnTo>
                <a:lnTo>
                  <a:pt x="11869188" y="5513011"/>
                </a:lnTo>
                <a:lnTo>
                  <a:pt x="0" y="55130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BPMN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1947039"/>
            <a:ext cx="276379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Pools e Lanes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3309678"/>
            <a:ext cx="183677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</a:t>
            </a: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IFPE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4825" y="4005003"/>
            <a:ext cx="358933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Lane</a:t>
            </a:r>
            <a:r>
              <a:rPr lang="en-US" sz="2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Chefia imediata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4825" y="9537171"/>
            <a:ext cx="446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372164" y="3309678"/>
            <a:ext cx="11360926" cy="5278595"/>
          </a:xfrm>
          <a:custGeom>
            <a:avLst/>
            <a:gdLst/>
            <a:ahLst/>
            <a:cxnLst/>
            <a:rect r="r" b="b" t="t" l="l"/>
            <a:pathLst>
              <a:path h="5278595" w="11360926">
                <a:moveTo>
                  <a:pt x="0" y="0"/>
                </a:moveTo>
                <a:lnTo>
                  <a:pt x="11360926" y="0"/>
                </a:lnTo>
                <a:lnTo>
                  <a:pt x="11360926" y="5278595"/>
                </a:lnTo>
                <a:lnTo>
                  <a:pt x="0" y="52785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BPMN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1947039"/>
            <a:ext cx="276379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Pools e Lanes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3309678"/>
            <a:ext cx="183677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</a:t>
            </a: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IFPE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4825" y="4005003"/>
            <a:ext cx="358933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Lane</a:t>
            </a:r>
            <a:r>
              <a:rPr lang="en-US" sz="2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Reitoria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4825" y="9537171"/>
            <a:ext cx="446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524196" y="3309678"/>
            <a:ext cx="13140408" cy="3909271"/>
          </a:xfrm>
          <a:custGeom>
            <a:avLst/>
            <a:gdLst/>
            <a:ahLst/>
            <a:cxnLst/>
            <a:rect r="r" b="b" t="t" l="l"/>
            <a:pathLst>
              <a:path h="3909271" w="13140408">
                <a:moveTo>
                  <a:pt x="0" y="0"/>
                </a:moveTo>
                <a:lnTo>
                  <a:pt x="13140408" y="0"/>
                </a:lnTo>
                <a:lnTo>
                  <a:pt x="13140408" y="3909271"/>
                </a:lnTo>
                <a:lnTo>
                  <a:pt x="0" y="3909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BPMN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1947039"/>
            <a:ext cx="276379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Pools e Lanes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3309678"/>
            <a:ext cx="183677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</a:t>
            </a: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IFPE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4825" y="4005003"/>
            <a:ext cx="358933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Lane</a:t>
            </a:r>
            <a:r>
              <a:rPr lang="en-US" sz="2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Equipe de planejamento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4825" y="9537171"/>
            <a:ext cx="446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377208" y="2199452"/>
            <a:ext cx="9287396" cy="6862245"/>
          </a:xfrm>
          <a:custGeom>
            <a:avLst/>
            <a:gdLst/>
            <a:ahLst/>
            <a:cxnLst/>
            <a:rect r="r" b="b" t="t" l="l"/>
            <a:pathLst>
              <a:path h="6862245" w="9287396">
                <a:moveTo>
                  <a:pt x="0" y="0"/>
                </a:moveTo>
                <a:lnTo>
                  <a:pt x="9287396" y="0"/>
                </a:lnTo>
                <a:lnTo>
                  <a:pt x="9287396" y="6862245"/>
                </a:lnTo>
                <a:lnTo>
                  <a:pt x="0" y="68622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5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BPMN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1947039"/>
            <a:ext cx="276379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Pools e Lanes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3309678"/>
            <a:ext cx="183677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Pool</a:t>
            </a: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IFPE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4825" y="4005003"/>
            <a:ext cx="358933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Lane</a:t>
            </a:r>
            <a:r>
              <a:rPr lang="en-US" sz="2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Equipe de planejamento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4825" y="5043228"/>
            <a:ext cx="358933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Subprocesso</a:t>
            </a:r>
            <a:r>
              <a:rPr lang="en-US"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Elaboração de artefatos técnicos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4825" y="9537171"/>
            <a:ext cx="446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14825" y="1010050"/>
            <a:ext cx="168583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BPMN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825" y="1947039"/>
            <a:ext cx="581072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Fim da fase de planejamento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825" y="3110204"/>
            <a:ext cx="8862966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Problemas Identificados na Modelagem:</a:t>
            </a:r>
          </a:p>
          <a:p>
            <a:pPr algn="l">
              <a:lnSpc>
                <a:spcPts val="3839"/>
              </a:lnSpc>
            </a:pP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Retrabalho administrativo: duplicidade de registro nos sistemas SEI e Comprasnet (ETP, TR, Matriz de Riscos).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38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14825" y="9537171"/>
            <a:ext cx="446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4918" y="9407246"/>
            <a:ext cx="2899686" cy="596650"/>
          </a:xfrm>
          <a:custGeom>
            <a:avLst/>
            <a:gdLst/>
            <a:ahLst/>
            <a:cxnLst/>
            <a:rect r="r" b="b" t="t" l="l"/>
            <a:pathLst>
              <a:path h="596650" w="2899686">
                <a:moveTo>
                  <a:pt x="0" y="0"/>
                </a:moveTo>
                <a:lnTo>
                  <a:pt x="2899686" y="0"/>
                </a:lnTo>
                <a:lnTo>
                  <a:pt x="2899686" y="596650"/>
                </a:lnTo>
                <a:lnTo>
                  <a:pt x="0" y="59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52627" y="0"/>
            <a:ext cx="6052539" cy="1145402"/>
            <a:chOff x="0" y="0"/>
            <a:chExt cx="8070052" cy="1527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1285" cy="1527203"/>
            </a:xfrm>
            <a:custGeom>
              <a:avLst/>
              <a:gdLst/>
              <a:ahLst/>
              <a:cxnLst/>
              <a:rect r="r" b="b" t="t" l="l"/>
              <a:pathLst>
                <a:path h="1527203" w="5121285">
                  <a:moveTo>
                    <a:pt x="0" y="0"/>
                  </a:moveTo>
                  <a:lnTo>
                    <a:pt x="5121285" y="0"/>
                  </a:lnTo>
                  <a:lnTo>
                    <a:pt x="5121285" y="1527203"/>
                  </a:lnTo>
                  <a:lnTo>
                    <a:pt x="0" y="15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121285" y="282584"/>
              <a:ext cx="2948766" cy="962035"/>
            </a:xfrm>
            <a:custGeom>
              <a:avLst/>
              <a:gdLst/>
              <a:ahLst/>
              <a:cxnLst/>
              <a:rect r="r" b="b" t="t" l="l"/>
              <a:pathLst>
                <a:path h="962035" w="2948766">
                  <a:moveTo>
                    <a:pt x="0" y="0"/>
                  </a:moveTo>
                  <a:lnTo>
                    <a:pt x="2948767" y="0"/>
                  </a:lnTo>
                  <a:lnTo>
                    <a:pt x="2948767" y="962035"/>
                  </a:lnTo>
                  <a:lnTo>
                    <a:pt x="0" y="96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825" y="1819018"/>
            <a:ext cx="3115548" cy="710665"/>
            <a:chOff x="0" y="0"/>
            <a:chExt cx="820556" cy="1871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556" cy="187171"/>
            </a:xfrm>
            <a:custGeom>
              <a:avLst/>
              <a:gdLst/>
              <a:ahLst/>
              <a:cxnLst/>
              <a:rect r="r" b="b" t="t" l="l"/>
              <a:pathLst>
                <a:path h="187171" w="820556">
                  <a:moveTo>
                    <a:pt x="0" y="0"/>
                  </a:moveTo>
                  <a:lnTo>
                    <a:pt x="820556" y="0"/>
                  </a:lnTo>
                  <a:lnTo>
                    <a:pt x="820556" y="187171"/>
                  </a:lnTo>
                  <a:lnTo>
                    <a:pt x="0" y="187171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820556" cy="28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6298" y="220276"/>
            <a:ext cx="1133780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Técnicas de elicitação e design thinking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4825" y="1038225"/>
            <a:ext cx="226174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Matriz CSD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5881" y="1921937"/>
            <a:ext cx="177343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Certezas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110105" y="1819018"/>
            <a:ext cx="3115548" cy="710665"/>
            <a:chOff x="0" y="0"/>
            <a:chExt cx="820556" cy="1871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0556" cy="187171"/>
            </a:xfrm>
            <a:custGeom>
              <a:avLst/>
              <a:gdLst/>
              <a:ahLst/>
              <a:cxnLst/>
              <a:rect r="r" b="b" t="t" l="l"/>
              <a:pathLst>
                <a:path h="187171" w="820556">
                  <a:moveTo>
                    <a:pt x="0" y="0"/>
                  </a:moveTo>
                  <a:lnTo>
                    <a:pt x="820556" y="0"/>
                  </a:lnTo>
                  <a:lnTo>
                    <a:pt x="820556" y="187171"/>
                  </a:lnTo>
                  <a:lnTo>
                    <a:pt x="0" y="187171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820556" cy="28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18777" y="1921937"/>
            <a:ext cx="229820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Suposições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735803" y="1819018"/>
            <a:ext cx="3115548" cy="710665"/>
            <a:chOff x="0" y="0"/>
            <a:chExt cx="820556" cy="1871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0556" cy="187171"/>
            </a:xfrm>
            <a:custGeom>
              <a:avLst/>
              <a:gdLst/>
              <a:ahLst/>
              <a:cxnLst/>
              <a:rect r="r" b="b" t="t" l="l"/>
              <a:pathLst>
                <a:path h="187171" w="820556">
                  <a:moveTo>
                    <a:pt x="0" y="0"/>
                  </a:moveTo>
                  <a:lnTo>
                    <a:pt x="820556" y="0"/>
                  </a:lnTo>
                  <a:lnTo>
                    <a:pt x="820556" y="187171"/>
                  </a:lnTo>
                  <a:lnTo>
                    <a:pt x="0" y="187171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820556" cy="28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478222" y="1921937"/>
            <a:ext cx="16307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Dúvidas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3995" y="2739232"/>
            <a:ext cx="5759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Existe retrabalho ao inserir informações no SEI e ComprasNet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35803" y="2739232"/>
            <a:ext cx="443460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Como evitar o retrabalho de reenviar dados para dois sistemas?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3995" y="3607098"/>
            <a:ext cx="575974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Falta de padronização entre unidades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3995" y="4092873"/>
            <a:ext cx="5759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 processo exige recração manual dos documentos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4825" y="4959648"/>
            <a:ext cx="5759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Há múltiplos stakeholders(técnico, administrativo, requisitante, etc)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4825" y="5826423"/>
            <a:ext cx="5759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 IFPE possui 16 campi com processos descentralizados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4825" y="6693198"/>
            <a:ext cx="575974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Não há integração entre os sistemas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10105" y="2844007"/>
            <a:ext cx="5759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Uma integração entre sistemas reduziria significativamente o retrabalho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10105" y="3711873"/>
            <a:ext cx="5759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É possível automatizar o envio de dados do SEI para o ComprasNet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10105" y="4578648"/>
            <a:ext cx="5759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Os dados do SEI são suficientemente estruturados para reaproveitamento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10105" y="5445423"/>
            <a:ext cx="5759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Usuários aceitariam um processo automatizado “invisível”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10105" y="6312198"/>
            <a:ext cx="5759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Um fluxo mais simples poderia permitir aprovação em poucos cliques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35803" y="4007148"/>
            <a:ext cx="443460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Como tornar o processo de licitação mais ágil?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35803" y="4854873"/>
            <a:ext cx="443460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Como eliminar a necessidade de repetir assinaturas em dois sistemas?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35803" y="6060260"/>
            <a:ext cx="443460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Como definir um processo único para 16 unidades diferentes?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36298" y="7569498"/>
            <a:ext cx="185335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Personas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6298" y="8093373"/>
            <a:ext cx="734094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Entrevista  semiestruturada e roteiro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6298" y="8620452"/>
            <a:ext cx="88265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Analise de documentos usados no processo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4825" y="9537171"/>
            <a:ext cx="446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948" y="711394"/>
            <a:ext cx="10999803" cy="80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36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Ferramentas de Gestão e Controle</a:t>
            </a:r>
          </a:p>
        </p:txBody>
      </p:sp>
      <p:sp>
        <p:nvSpPr>
          <p:cNvPr name="AutoShape 3" id="3"/>
          <p:cNvSpPr/>
          <p:nvPr/>
        </p:nvSpPr>
        <p:spPr>
          <a:xfrm rot="7740">
            <a:off x="552879" y="1599524"/>
            <a:ext cx="16896340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71948" y="2000002"/>
            <a:ext cx="5399999" cy="1100004"/>
            <a:chOff x="0" y="0"/>
            <a:chExt cx="7199998" cy="14666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00011" cy="1466723"/>
            </a:xfrm>
            <a:custGeom>
              <a:avLst/>
              <a:gdLst/>
              <a:ahLst/>
              <a:cxnLst/>
              <a:rect r="r" b="b" t="t" l="l"/>
              <a:pathLst>
                <a:path h="1466723" w="7200011">
                  <a:moveTo>
                    <a:pt x="0" y="0"/>
                  </a:moveTo>
                  <a:lnTo>
                    <a:pt x="7200011" y="0"/>
                  </a:lnTo>
                  <a:lnTo>
                    <a:pt x="7200011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948" y="2000002"/>
            <a:ext cx="5399999" cy="1100004"/>
            <a:chOff x="0" y="0"/>
            <a:chExt cx="7199998" cy="1466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0000" cy="1466667"/>
            </a:xfrm>
            <a:custGeom>
              <a:avLst/>
              <a:gdLst/>
              <a:ahLst/>
              <a:cxnLst/>
              <a:rect r="r" b="b" t="t" l="l"/>
              <a:pathLst>
                <a:path h="1466667" w="7200000">
                  <a:moveTo>
                    <a:pt x="0" y="0"/>
                  </a:moveTo>
                  <a:lnTo>
                    <a:pt x="7200000" y="0"/>
                  </a:lnTo>
                  <a:lnTo>
                    <a:pt x="7200000" y="1466667"/>
                  </a:lnTo>
                  <a:lnTo>
                    <a:pt x="0" y="146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361950"/>
              <a:ext cx="7199998" cy="1104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60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⎇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1948" y="3099997"/>
            <a:ext cx="5399999" cy="5600005"/>
            <a:chOff x="0" y="0"/>
            <a:chExt cx="7199998" cy="74666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011" cy="7466711"/>
            </a:xfrm>
            <a:custGeom>
              <a:avLst/>
              <a:gdLst/>
              <a:ahLst/>
              <a:cxnLst/>
              <a:rect r="r" b="b" t="t" l="l"/>
              <a:pathLst>
                <a:path h="7466711" w="7200011">
                  <a:moveTo>
                    <a:pt x="0" y="0"/>
                  </a:moveTo>
                  <a:lnTo>
                    <a:pt x="7200011" y="0"/>
                  </a:lnTo>
                  <a:lnTo>
                    <a:pt x="7200011" y="7466711"/>
                  </a:lnTo>
                  <a:lnTo>
                    <a:pt x="0" y="7466711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54828" y="3359077"/>
            <a:ext cx="5034248" cy="515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3600">
                <a:solidFill>
                  <a:srgbClr val="1A1A1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GitHub</a:t>
            </a:r>
          </a:p>
          <a:p>
            <a:pPr algn="ctr">
              <a:lnSpc>
                <a:spcPts val="3839"/>
              </a:lnSpc>
            </a:pPr>
            <a:r>
              <a:rPr lang="en-US" sz="2400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Controle de versão</a:t>
            </a:r>
          </a:p>
          <a:p>
            <a:pPr algn="ctr">
              <a:lnSpc>
                <a:spcPts val="3839"/>
              </a:lnSpc>
            </a:pPr>
            <a:r>
              <a:rPr lang="en-US" sz="2400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dos artefatos e</a:t>
            </a:r>
          </a:p>
          <a:p>
            <a:pPr algn="ctr">
              <a:lnSpc>
                <a:spcPts val="3839"/>
              </a:lnSpc>
            </a:pPr>
            <a:r>
              <a:rPr lang="en-US" sz="2400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histórico de mudanças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271946" y="2000002"/>
            <a:ext cx="5399999" cy="1100004"/>
            <a:chOff x="0" y="0"/>
            <a:chExt cx="7199998" cy="1466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00011" cy="1466723"/>
            </a:xfrm>
            <a:custGeom>
              <a:avLst/>
              <a:gdLst/>
              <a:ahLst/>
              <a:cxnLst/>
              <a:rect r="r" b="b" t="t" l="l"/>
              <a:pathLst>
                <a:path h="1466723" w="7200011">
                  <a:moveTo>
                    <a:pt x="0" y="0"/>
                  </a:moveTo>
                  <a:lnTo>
                    <a:pt x="7200011" y="0"/>
                  </a:lnTo>
                  <a:lnTo>
                    <a:pt x="7200011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DB1E2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1946" y="2000002"/>
            <a:ext cx="5399999" cy="1100004"/>
            <a:chOff x="0" y="0"/>
            <a:chExt cx="7199998" cy="1466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000" cy="1466667"/>
            </a:xfrm>
            <a:custGeom>
              <a:avLst/>
              <a:gdLst/>
              <a:ahLst/>
              <a:cxnLst/>
              <a:rect r="r" b="b" t="t" l="l"/>
              <a:pathLst>
                <a:path h="1466667" w="7200000">
                  <a:moveTo>
                    <a:pt x="0" y="0"/>
                  </a:moveTo>
                  <a:lnTo>
                    <a:pt x="7200000" y="0"/>
                  </a:lnTo>
                  <a:lnTo>
                    <a:pt x="7200000" y="1466667"/>
                  </a:lnTo>
                  <a:lnTo>
                    <a:pt x="0" y="146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361950"/>
              <a:ext cx="7199998" cy="1104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60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▦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1946" y="3099997"/>
            <a:ext cx="5399999" cy="5600005"/>
            <a:chOff x="0" y="0"/>
            <a:chExt cx="7199998" cy="74666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00011" cy="7466711"/>
            </a:xfrm>
            <a:custGeom>
              <a:avLst/>
              <a:gdLst/>
              <a:ahLst/>
              <a:cxnLst/>
              <a:rect r="r" b="b" t="t" l="l"/>
              <a:pathLst>
                <a:path h="7466711" w="7200011">
                  <a:moveTo>
                    <a:pt x="0" y="0"/>
                  </a:moveTo>
                  <a:lnTo>
                    <a:pt x="7200011" y="0"/>
                  </a:lnTo>
                  <a:lnTo>
                    <a:pt x="7200011" y="7466711"/>
                  </a:lnTo>
                  <a:lnTo>
                    <a:pt x="0" y="7466711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454826" y="3359077"/>
            <a:ext cx="5034248" cy="515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3600">
                <a:solidFill>
                  <a:srgbClr val="1A1A1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Trello</a:t>
            </a:r>
          </a:p>
          <a:p>
            <a:pPr algn="ctr">
              <a:lnSpc>
                <a:spcPts val="3839"/>
              </a:lnSpc>
            </a:pPr>
            <a:r>
              <a:rPr lang="en-US" sz="2400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Gestão de tarefas</a:t>
            </a:r>
          </a:p>
          <a:p>
            <a:pPr algn="ctr">
              <a:lnSpc>
                <a:spcPts val="3839"/>
              </a:lnSpc>
            </a:pPr>
            <a:r>
              <a:rPr lang="en-US" sz="2400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e sprints do</a:t>
            </a:r>
          </a:p>
          <a:p>
            <a:pPr algn="ctr">
              <a:lnSpc>
                <a:spcPts val="3839"/>
              </a:lnSpc>
            </a:pPr>
            <a:r>
              <a:rPr lang="en-US" sz="2400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projeto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971953" y="2000002"/>
            <a:ext cx="5399999" cy="1100004"/>
            <a:chOff x="0" y="0"/>
            <a:chExt cx="7199998" cy="14666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00011" cy="1466723"/>
            </a:xfrm>
            <a:custGeom>
              <a:avLst/>
              <a:gdLst/>
              <a:ahLst/>
              <a:cxnLst/>
              <a:rect r="r" b="b" t="t" l="l"/>
              <a:pathLst>
                <a:path h="1466723" w="7200011">
                  <a:moveTo>
                    <a:pt x="0" y="0"/>
                  </a:moveTo>
                  <a:lnTo>
                    <a:pt x="7200011" y="0"/>
                  </a:lnTo>
                  <a:lnTo>
                    <a:pt x="7200011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971953" y="2000002"/>
            <a:ext cx="5399999" cy="1100004"/>
            <a:chOff x="0" y="0"/>
            <a:chExt cx="7199998" cy="1466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00000" cy="1466667"/>
            </a:xfrm>
            <a:custGeom>
              <a:avLst/>
              <a:gdLst/>
              <a:ahLst/>
              <a:cxnLst/>
              <a:rect r="r" b="b" t="t" l="l"/>
              <a:pathLst>
                <a:path h="1466667" w="7200000">
                  <a:moveTo>
                    <a:pt x="0" y="0"/>
                  </a:moveTo>
                  <a:lnTo>
                    <a:pt x="7200000" y="0"/>
                  </a:lnTo>
                  <a:lnTo>
                    <a:pt x="7200000" y="1466667"/>
                  </a:lnTo>
                  <a:lnTo>
                    <a:pt x="0" y="146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361950"/>
              <a:ext cx="7199998" cy="1104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60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✆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71953" y="3099997"/>
            <a:ext cx="5399999" cy="5600005"/>
            <a:chOff x="0" y="0"/>
            <a:chExt cx="7199998" cy="74666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00011" cy="7466711"/>
            </a:xfrm>
            <a:custGeom>
              <a:avLst/>
              <a:gdLst/>
              <a:ahLst/>
              <a:cxnLst/>
              <a:rect r="r" b="b" t="t" l="l"/>
              <a:pathLst>
                <a:path h="7466711" w="7200011">
                  <a:moveTo>
                    <a:pt x="0" y="0"/>
                  </a:moveTo>
                  <a:lnTo>
                    <a:pt x="7200011" y="0"/>
                  </a:lnTo>
                  <a:lnTo>
                    <a:pt x="7200011" y="7466711"/>
                  </a:lnTo>
                  <a:lnTo>
                    <a:pt x="0" y="7466711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154824" y="3359077"/>
            <a:ext cx="5034248" cy="515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3600">
                <a:solidFill>
                  <a:srgbClr val="1A1A1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WhatsApp</a:t>
            </a:r>
          </a:p>
          <a:p>
            <a:pPr algn="ctr">
              <a:lnSpc>
                <a:spcPts val="3839"/>
              </a:lnSpc>
            </a:pPr>
            <a:r>
              <a:rPr lang="en-US" sz="2400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Comunicação ágil e</a:t>
            </a:r>
          </a:p>
          <a:p>
            <a:pPr algn="ctr">
              <a:lnSpc>
                <a:spcPts val="3839"/>
              </a:lnSpc>
            </a:pPr>
            <a:r>
              <a:rPr lang="en-US" sz="2400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registro de decisões</a:t>
            </a:r>
          </a:p>
          <a:p>
            <a:pPr algn="ctr">
              <a:lnSpc>
                <a:spcPts val="3839"/>
              </a:lnSpc>
            </a:pPr>
            <a:r>
              <a:rPr lang="en-US" sz="2400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com o cliente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64922" y="9403823"/>
            <a:ext cx="289968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cin.ufpe.br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052630" y="0"/>
            <a:ext cx="3840966" cy="1145400"/>
            <a:chOff x="0" y="0"/>
            <a:chExt cx="5121288" cy="152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1275" cy="1527175"/>
            </a:xfrm>
            <a:custGeom>
              <a:avLst/>
              <a:gdLst/>
              <a:ahLst/>
              <a:cxnLst/>
              <a:rect r="r" b="b" t="t" l="l"/>
              <a:pathLst>
                <a:path h="1527175" w="5121275">
                  <a:moveTo>
                    <a:pt x="0" y="0"/>
                  </a:moveTo>
                  <a:lnTo>
                    <a:pt x="5121275" y="0"/>
                  </a:lnTo>
                  <a:lnTo>
                    <a:pt x="5121275" y="1527175"/>
                  </a:lnTo>
                  <a:lnTo>
                    <a:pt x="0" y="1527175"/>
                  </a:lnTo>
                  <a:close/>
                </a:path>
              </a:pathLst>
            </a:custGeom>
            <a:blipFill>
              <a:blip r:embed="rId3"/>
              <a:stretch>
                <a:fillRect l="0" t="-77" r="0" b="-7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893586" y="211941"/>
            <a:ext cx="2211572" cy="721528"/>
            <a:chOff x="0" y="0"/>
            <a:chExt cx="2948762" cy="9620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48813" cy="962025"/>
            </a:xfrm>
            <a:custGeom>
              <a:avLst/>
              <a:gdLst/>
              <a:ahLst/>
              <a:cxnLst/>
              <a:rect r="r" b="b" t="t" l="l"/>
              <a:pathLst>
                <a:path h="962025" w="2948813">
                  <a:moveTo>
                    <a:pt x="0" y="0"/>
                  </a:moveTo>
                  <a:lnTo>
                    <a:pt x="2948813" y="0"/>
                  </a:lnTo>
                  <a:lnTo>
                    <a:pt x="2948813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/>
              <a:stretch>
                <a:fillRect l="0" t="-199" r="1" b="-19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277227" y="5851950"/>
            <a:ext cx="1989449" cy="1989449"/>
            <a:chOff x="0" y="0"/>
            <a:chExt cx="2652598" cy="26525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52649" cy="2652649"/>
            </a:xfrm>
            <a:custGeom>
              <a:avLst/>
              <a:gdLst/>
              <a:ahLst/>
              <a:cxnLst/>
              <a:rect r="r" b="b" t="t" l="l"/>
              <a:pathLst>
                <a:path h="2652649" w="2652649">
                  <a:moveTo>
                    <a:pt x="0" y="0"/>
                  </a:moveTo>
                  <a:lnTo>
                    <a:pt x="2652649" y="0"/>
                  </a:lnTo>
                  <a:lnTo>
                    <a:pt x="2652649" y="2652649"/>
                  </a:lnTo>
                  <a:lnTo>
                    <a:pt x="0" y="2652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203577" y="5851950"/>
            <a:ext cx="3536699" cy="1989449"/>
            <a:chOff x="0" y="0"/>
            <a:chExt cx="4715599" cy="26525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15637" cy="2652649"/>
            </a:xfrm>
            <a:custGeom>
              <a:avLst/>
              <a:gdLst/>
              <a:ahLst/>
              <a:cxnLst/>
              <a:rect r="r" b="b" t="t" l="l"/>
              <a:pathLst>
                <a:path h="2652649" w="4715637">
                  <a:moveTo>
                    <a:pt x="0" y="0"/>
                  </a:moveTo>
                  <a:lnTo>
                    <a:pt x="4715637" y="0"/>
                  </a:lnTo>
                  <a:lnTo>
                    <a:pt x="4715637" y="2652649"/>
                  </a:lnTo>
                  <a:lnTo>
                    <a:pt x="0" y="2652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0" b="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573230" y="5747947"/>
            <a:ext cx="2197446" cy="2197446"/>
            <a:chOff x="0" y="0"/>
            <a:chExt cx="2929928" cy="29299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29890" cy="2929890"/>
            </a:xfrm>
            <a:custGeom>
              <a:avLst/>
              <a:gdLst/>
              <a:ahLst/>
              <a:cxnLst/>
              <a:rect r="r" b="b" t="t" l="l"/>
              <a:pathLst>
                <a:path h="2929890" w="2929890">
                  <a:moveTo>
                    <a:pt x="0" y="0"/>
                  </a:moveTo>
                  <a:lnTo>
                    <a:pt x="2929890" y="0"/>
                  </a:lnTo>
                  <a:lnTo>
                    <a:pt x="2929890" y="2929890"/>
                  </a:lnTo>
                  <a:lnTo>
                    <a:pt x="0" y="2929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14825" y="9537171"/>
            <a:ext cx="446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948" y="767039"/>
            <a:ext cx="10999803" cy="630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b="true" sz="36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Validação com o Cliente</a:t>
            </a:r>
          </a:p>
        </p:txBody>
      </p:sp>
      <p:sp>
        <p:nvSpPr>
          <p:cNvPr name="AutoShape 3" id="3"/>
          <p:cNvSpPr/>
          <p:nvPr/>
        </p:nvSpPr>
        <p:spPr>
          <a:xfrm rot="7740">
            <a:off x="552879" y="1610477"/>
            <a:ext cx="16896493" cy="0"/>
          </a:xfrm>
          <a:prstGeom prst="line">
            <a:avLst/>
          </a:prstGeom>
          <a:ln cap="rnd" w="19050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71948" y="1805607"/>
            <a:ext cx="16000200" cy="430797"/>
            <a:chOff x="0" y="0"/>
            <a:chExt cx="21333600" cy="5743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33600" cy="574400"/>
            </a:xfrm>
            <a:custGeom>
              <a:avLst/>
              <a:gdLst/>
              <a:ahLst/>
              <a:cxnLst/>
              <a:rect r="r" b="b" t="t" l="l"/>
              <a:pathLst>
                <a:path h="574400" w="21333600">
                  <a:moveTo>
                    <a:pt x="0" y="0"/>
                  </a:moveTo>
                  <a:lnTo>
                    <a:pt x="21333600" y="0"/>
                  </a:lnTo>
                  <a:lnTo>
                    <a:pt x="21333600" y="574400"/>
                  </a:lnTo>
                  <a:lnTo>
                    <a:pt x="0" y="57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3687" r="0" b="-67368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333600" cy="62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b="true" sz="2799">
                  <a:solidFill>
                    <a:srgbClr val="59595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Processo de 4 Etapas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94003" y="2889237"/>
            <a:ext cx="3499799" cy="5800201"/>
            <a:chOff x="0" y="0"/>
            <a:chExt cx="4666399" cy="77336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66361" cy="7733538"/>
            </a:xfrm>
            <a:custGeom>
              <a:avLst/>
              <a:gdLst/>
              <a:ahLst/>
              <a:cxnLst/>
              <a:rect r="r" b="b" t="t" l="l"/>
              <a:pathLst>
                <a:path h="7733538" w="4666361">
                  <a:moveTo>
                    <a:pt x="0" y="0"/>
                  </a:moveTo>
                  <a:lnTo>
                    <a:pt x="4666361" y="0"/>
                  </a:lnTo>
                  <a:lnTo>
                    <a:pt x="4666361" y="7733538"/>
                  </a:lnTo>
                  <a:lnTo>
                    <a:pt x="0" y="7733538"/>
                  </a:lnTo>
                  <a:close/>
                </a:path>
              </a:pathLst>
            </a:custGeom>
            <a:solidFill>
              <a:srgbClr val="DB1E2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994003" y="2889237"/>
            <a:ext cx="3499799" cy="1799996"/>
            <a:chOff x="0" y="0"/>
            <a:chExt cx="4666399" cy="23999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66400" cy="2400000"/>
            </a:xfrm>
            <a:custGeom>
              <a:avLst/>
              <a:gdLst/>
              <a:ahLst/>
              <a:cxnLst/>
              <a:rect r="r" b="b" t="t" l="l"/>
              <a:pathLst>
                <a:path h="2400000" w="4666400">
                  <a:moveTo>
                    <a:pt x="0" y="0"/>
                  </a:moveTo>
                  <a:lnTo>
                    <a:pt x="4666400" y="0"/>
                  </a:lnTo>
                  <a:lnTo>
                    <a:pt x="4666400" y="2400000"/>
                  </a:lnTo>
                  <a:lnTo>
                    <a:pt x="0" y="240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988" t="0" r="-15988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0"/>
              <a:ext cx="4666399" cy="1923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72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31325" y="4778940"/>
            <a:ext cx="3225146" cy="37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6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Reunião </a:t>
            </a:r>
          </a:p>
          <a:p>
            <a:pPr algn="ctr">
              <a:lnSpc>
                <a:spcPts val="3359"/>
              </a:lnSpc>
            </a:pPr>
            <a:r>
              <a:rPr lang="en-US" sz="2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 diagnóstico </a:t>
            </a:r>
          </a:p>
          <a:p>
            <a:pPr algn="ctr">
              <a:lnSpc>
                <a:spcPts val="3359"/>
              </a:lnSpc>
            </a:pPr>
            <a:r>
              <a:rPr lang="en-US" sz="2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do problema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93999" y="5289242"/>
            <a:ext cx="499796" cy="599999"/>
            <a:chOff x="0" y="0"/>
            <a:chExt cx="666394" cy="7999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6369" cy="799973"/>
            </a:xfrm>
            <a:custGeom>
              <a:avLst/>
              <a:gdLst/>
              <a:ahLst/>
              <a:cxnLst/>
              <a:rect r="r" b="b" t="t" l="l"/>
              <a:pathLst>
                <a:path h="799973" w="666369">
                  <a:moveTo>
                    <a:pt x="0" y="200025"/>
                  </a:moveTo>
                  <a:lnTo>
                    <a:pt x="333248" y="200025"/>
                  </a:lnTo>
                  <a:lnTo>
                    <a:pt x="333248" y="0"/>
                  </a:lnTo>
                  <a:lnTo>
                    <a:pt x="666369" y="400050"/>
                  </a:lnTo>
                  <a:lnTo>
                    <a:pt x="333248" y="799973"/>
                  </a:lnTo>
                  <a:lnTo>
                    <a:pt x="333248" y="599948"/>
                  </a:lnTo>
                  <a:lnTo>
                    <a:pt x="0" y="599948"/>
                  </a:lnTo>
                  <a:close/>
                </a:path>
              </a:pathLst>
            </a:custGeom>
            <a:solidFill>
              <a:srgbClr val="DB1E2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94000" y="2889237"/>
            <a:ext cx="3499799" cy="5800201"/>
            <a:chOff x="0" y="0"/>
            <a:chExt cx="4666399" cy="77336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66361" cy="7733538"/>
            </a:xfrm>
            <a:custGeom>
              <a:avLst/>
              <a:gdLst/>
              <a:ahLst/>
              <a:cxnLst/>
              <a:rect r="r" b="b" t="t" l="l"/>
              <a:pathLst>
                <a:path h="7733538" w="4666361">
                  <a:moveTo>
                    <a:pt x="0" y="0"/>
                  </a:moveTo>
                  <a:lnTo>
                    <a:pt x="4666361" y="0"/>
                  </a:lnTo>
                  <a:lnTo>
                    <a:pt x="4666361" y="7733538"/>
                  </a:lnTo>
                  <a:lnTo>
                    <a:pt x="0" y="7733538"/>
                  </a:lnTo>
                  <a:close/>
                </a:path>
              </a:pathLst>
            </a:custGeom>
            <a:solidFill>
              <a:srgbClr val="3A3A3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94000" y="2889237"/>
            <a:ext cx="3499799" cy="1799996"/>
            <a:chOff x="0" y="0"/>
            <a:chExt cx="4666399" cy="23999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66400" cy="2400000"/>
            </a:xfrm>
            <a:custGeom>
              <a:avLst/>
              <a:gdLst/>
              <a:ahLst/>
              <a:cxnLst/>
              <a:rect r="r" b="b" t="t" l="l"/>
              <a:pathLst>
                <a:path h="2400000" w="4666400">
                  <a:moveTo>
                    <a:pt x="0" y="0"/>
                  </a:moveTo>
                  <a:lnTo>
                    <a:pt x="4666400" y="0"/>
                  </a:lnTo>
                  <a:lnTo>
                    <a:pt x="4666400" y="2400000"/>
                  </a:lnTo>
                  <a:lnTo>
                    <a:pt x="0" y="240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988" t="0" r="-1598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0"/>
              <a:ext cx="4666399" cy="1923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72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531322" y="4778940"/>
            <a:ext cx="3225146" cy="37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6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Apresentação</a:t>
            </a:r>
          </a:p>
          <a:p>
            <a:pPr algn="ctr">
              <a:lnSpc>
                <a:spcPts val="3359"/>
              </a:lnSpc>
            </a:pPr>
            <a:r>
              <a:rPr lang="en-US" sz="2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do mapeamento</a:t>
            </a:r>
          </a:p>
          <a:p>
            <a:pPr algn="ctr">
              <a:lnSpc>
                <a:spcPts val="3359"/>
              </a:lnSpc>
            </a:pPr>
            <a:r>
              <a:rPr lang="en-US" sz="2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BPMN AS-IS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093996" y="5289242"/>
            <a:ext cx="499796" cy="599999"/>
            <a:chOff x="0" y="0"/>
            <a:chExt cx="666394" cy="7999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6369" cy="799973"/>
            </a:xfrm>
            <a:custGeom>
              <a:avLst/>
              <a:gdLst/>
              <a:ahLst/>
              <a:cxnLst/>
              <a:rect r="r" b="b" t="t" l="l"/>
              <a:pathLst>
                <a:path h="799973" w="666369">
                  <a:moveTo>
                    <a:pt x="0" y="200025"/>
                  </a:moveTo>
                  <a:lnTo>
                    <a:pt x="333248" y="200025"/>
                  </a:lnTo>
                  <a:lnTo>
                    <a:pt x="333248" y="0"/>
                  </a:lnTo>
                  <a:lnTo>
                    <a:pt x="666369" y="400050"/>
                  </a:lnTo>
                  <a:lnTo>
                    <a:pt x="333248" y="799973"/>
                  </a:lnTo>
                  <a:lnTo>
                    <a:pt x="333248" y="599948"/>
                  </a:lnTo>
                  <a:lnTo>
                    <a:pt x="0" y="599948"/>
                  </a:lnTo>
                  <a:close/>
                </a:path>
              </a:pathLst>
            </a:custGeom>
            <a:solidFill>
              <a:srgbClr val="DB1E2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793998" y="2889237"/>
            <a:ext cx="3499799" cy="5800201"/>
            <a:chOff x="0" y="0"/>
            <a:chExt cx="4666399" cy="77336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66361" cy="7733538"/>
            </a:xfrm>
            <a:custGeom>
              <a:avLst/>
              <a:gdLst/>
              <a:ahLst/>
              <a:cxnLst/>
              <a:rect r="r" b="b" t="t" l="l"/>
              <a:pathLst>
                <a:path h="7733538" w="4666361">
                  <a:moveTo>
                    <a:pt x="0" y="0"/>
                  </a:moveTo>
                  <a:lnTo>
                    <a:pt x="4666361" y="0"/>
                  </a:lnTo>
                  <a:lnTo>
                    <a:pt x="4666361" y="7733538"/>
                  </a:lnTo>
                  <a:lnTo>
                    <a:pt x="0" y="7733538"/>
                  </a:lnTo>
                  <a:close/>
                </a:path>
              </a:pathLst>
            </a:custGeom>
            <a:solidFill>
              <a:srgbClr val="DB1E2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793998" y="2889237"/>
            <a:ext cx="3499799" cy="1799996"/>
            <a:chOff x="0" y="0"/>
            <a:chExt cx="4666399" cy="23999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66400" cy="2400000"/>
            </a:xfrm>
            <a:custGeom>
              <a:avLst/>
              <a:gdLst/>
              <a:ahLst/>
              <a:cxnLst/>
              <a:rect r="r" b="b" t="t" l="l"/>
              <a:pathLst>
                <a:path h="2400000" w="4666400">
                  <a:moveTo>
                    <a:pt x="0" y="0"/>
                  </a:moveTo>
                  <a:lnTo>
                    <a:pt x="4666400" y="0"/>
                  </a:lnTo>
                  <a:lnTo>
                    <a:pt x="4666400" y="2400000"/>
                  </a:lnTo>
                  <a:lnTo>
                    <a:pt x="0" y="240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988" t="0" r="-1598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0"/>
              <a:ext cx="4666399" cy="1923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72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931329" y="4778940"/>
            <a:ext cx="3225146" cy="37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6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Validação</a:t>
            </a:r>
          </a:p>
          <a:p>
            <a:pPr algn="ctr">
              <a:lnSpc>
                <a:spcPts val="3359"/>
              </a:lnSpc>
            </a:pPr>
            <a:r>
              <a:rPr lang="en-US" sz="2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 feedbacks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64922" y="9403823"/>
            <a:ext cx="289968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>
                <a:solidFill>
                  <a:srgbClr val="DB1E2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cin.ufpe.br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052630" y="0"/>
            <a:ext cx="3840966" cy="1145400"/>
            <a:chOff x="0" y="0"/>
            <a:chExt cx="5121288" cy="152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1275" cy="1527175"/>
            </a:xfrm>
            <a:custGeom>
              <a:avLst/>
              <a:gdLst/>
              <a:ahLst/>
              <a:cxnLst/>
              <a:rect r="r" b="b" t="t" l="l"/>
              <a:pathLst>
                <a:path h="1527175" w="5121275">
                  <a:moveTo>
                    <a:pt x="0" y="0"/>
                  </a:moveTo>
                  <a:lnTo>
                    <a:pt x="5121275" y="0"/>
                  </a:lnTo>
                  <a:lnTo>
                    <a:pt x="5121275" y="1527175"/>
                  </a:lnTo>
                  <a:lnTo>
                    <a:pt x="0" y="1527175"/>
                  </a:lnTo>
                  <a:close/>
                </a:path>
              </a:pathLst>
            </a:custGeom>
            <a:blipFill>
              <a:blip r:embed="rId3"/>
              <a:stretch>
                <a:fillRect l="0" t="-77" r="0" b="-7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893586" y="211941"/>
            <a:ext cx="2211572" cy="721528"/>
            <a:chOff x="0" y="0"/>
            <a:chExt cx="2948762" cy="9620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48813" cy="962025"/>
            </a:xfrm>
            <a:custGeom>
              <a:avLst/>
              <a:gdLst/>
              <a:ahLst/>
              <a:cxnLst/>
              <a:rect r="r" b="b" t="t" l="l"/>
              <a:pathLst>
                <a:path h="962025" w="2948813">
                  <a:moveTo>
                    <a:pt x="0" y="0"/>
                  </a:moveTo>
                  <a:lnTo>
                    <a:pt x="2948813" y="0"/>
                  </a:lnTo>
                  <a:lnTo>
                    <a:pt x="2948813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/>
              <a:stretch>
                <a:fillRect l="0" t="-199" r="1" b="-199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14825" y="9537171"/>
            <a:ext cx="5519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7050" cy="10306050"/>
            <a:chOff x="0" y="0"/>
            <a:chExt cx="24409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8821" y="6453375"/>
            <a:ext cx="16834354" cy="3283077"/>
            <a:chOff x="0" y="0"/>
            <a:chExt cx="22445805" cy="4377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85067" cy="4377436"/>
            </a:xfrm>
            <a:custGeom>
              <a:avLst/>
              <a:gdLst/>
              <a:ahLst/>
              <a:cxnLst/>
              <a:rect r="r" b="b" t="t" l="l"/>
              <a:pathLst>
                <a:path h="4377436" w="14685067">
                  <a:moveTo>
                    <a:pt x="0" y="0"/>
                  </a:moveTo>
                  <a:lnTo>
                    <a:pt x="14685067" y="0"/>
                  </a:lnTo>
                  <a:lnTo>
                    <a:pt x="14685067" y="4377436"/>
                  </a:lnTo>
                  <a:lnTo>
                    <a:pt x="0" y="4377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-58" b="-1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685067" y="927969"/>
              <a:ext cx="7760738" cy="2521499"/>
            </a:xfrm>
            <a:custGeom>
              <a:avLst/>
              <a:gdLst/>
              <a:ahLst/>
              <a:cxnLst/>
              <a:rect r="r" b="b" t="t" l="l"/>
              <a:pathLst>
                <a:path h="2521499" w="7760738">
                  <a:moveTo>
                    <a:pt x="0" y="0"/>
                  </a:moveTo>
                  <a:lnTo>
                    <a:pt x="7760738" y="0"/>
                  </a:lnTo>
                  <a:lnTo>
                    <a:pt x="7760738" y="2521499"/>
                  </a:lnTo>
                  <a:lnTo>
                    <a:pt x="0" y="2521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" r="0" b="-1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14825" y="1881943"/>
            <a:ext cx="16858350" cy="31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75"/>
              </a:lnSpc>
            </a:pPr>
            <a:r>
              <a:rPr lang="en-US" sz="95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Obrigado!</a:t>
            </a:r>
          </a:p>
          <a:p>
            <a:pPr algn="ctr">
              <a:lnSpc>
                <a:spcPts val="6660"/>
              </a:lnSpc>
            </a:pPr>
            <a:r>
              <a:rPr lang="en-US" sz="3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Dúvidas?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DAHEQLIWTNM</dc:identifier>
  <dcterms:modified xsi:type="dcterms:W3CDTF">2011-08-01T06:04:30Z</dcterms:modified>
  <cp:revision>1</cp:revision>
  <dc:title>IFPE - CIN</dc:title>
</cp:coreProperties>
</file>